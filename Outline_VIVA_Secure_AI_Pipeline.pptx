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5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66" d="100"/>
          <a:sy n="66" d="100"/>
        </p:scale>
        <p:origin x="876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854830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0" y="-2286000"/>
            <a:ext cx="5486400" cy="5486400"/>
          </a:xfrm>
          <a:prstGeom prst="ellipse">
            <a:avLst/>
          </a:prstGeom>
          <a:solidFill>
            <a:srgbClr val="065A82">
              <a:alpha val="60000"/>
            </a:srgbClr>
          </a:solidFill>
          <a:ln w="12700">
            <a:solidFill>
              <a:srgbClr val="065A8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8686800" y="4114800"/>
            <a:ext cx="4572000" cy="4572000"/>
          </a:xfrm>
          <a:prstGeom prst="ellipse">
            <a:avLst/>
          </a:prstGeom>
          <a:solidFill>
            <a:srgbClr val="1C7293">
              <a:alpha val="40000"/>
            </a:srgbClr>
          </a:solidFill>
          <a:ln w="12700">
            <a:solidFill>
              <a:srgbClr val="1C729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640080" y="6400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400" dirty="0">
                <a:solidFill>
                  <a:srgbClr val="E3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Dissertation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28016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Secure AI Pipeline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Sensitive Data</a:t>
            </a:r>
            <a:endParaRPr lang="en-US" sz="5400" dirty="0"/>
          </a:p>
        </p:txBody>
      </p:sp>
      <p:sp>
        <p:nvSpPr>
          <p:cNvPr id="7" name="Shape 5"/>
          <p:cNvSpPr/>
          <p:nvPr/>
        </p:nvSpPr>
        <p:spPr>
          <a:xfrm>
            <a:off x="640080" y="3291840"/>
            <a:ext cx="548640" cy="54864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640080" y="352044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E3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privacy-preserving ML pipeline with layered defences</a:t>
            </a:r>
            <a:endParaRPr lang="en-US" sz="1800" dirty="0"/>
          </a:p>
          <a:p>
            <a:pPr marL="0" indent="0">
              <a:buNone/>
            </a:pPr>
            <a:r>
              <a:rPr lang="en-US" sz="1800" i="1" dirty="0">
                <a:solidFill>
                  <a:srgbClr val="E3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empirical attack evaluation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493776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
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Rajput Dhirajsing Rajeshsing
</a:t>
            </a:r>
            <a:r>
              <a:rPr lang="en-US" sz="1200" dirty="0">
                <a:solidFill>
                  <a:srgbClr val="E3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2024DA04378  ·  M.Tech. Data Science and Engineering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0" y="493776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
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Roshini V
</a:t>
            </a:r>
            <a:r>
              <a:rPr lang="en-US" sz="1200" dirty="0">
                <a:solidFill>
                  <a:srgbClr val="E3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Cognizant Technology Solutions, Chennai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E3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BITS Pilani  ·  WILP Division  ·  DSECLZG628T  ·  May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1691640"/>
            <a:ext cx="3657600" cy="4297680"/>
          </a:xfrm>
          <a:prstGeom prst="rect">
            <a:avLst/>
          </a:prstGeom>
          <a:solidFill>
            <a:srgbClr val="F2F7FB"/>
          </a:solidFill>
          <a:ln w="12700">
            <a:solidFill>
              <a:srgbClr val="E3EE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274320" y="1691640"/>
            <a:ext cx="91440" cy="42976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685800" y="2057400"/>
            <a:ext cx="640080" cy="64008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685800" y="2057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85800" y="28803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risk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85800" y="3429000"/>
            <a:ext cx="2834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Banks and hospitals run AI models on personal data. Those models can leak information about the very people they were trained on — an attacker with query access can often tell whether a specific person was in the training set.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251960" y="1691640"/>
            <a:ext cx="3657600" cy="4297680"/>
          </a:xfrm>
          <a:prstGeom prst="rect">
            <a:avLst/>
          </a:prstGeom>
          <a:solidFill>
            <a:srgbClr val="F2F7FB"/>
          </a:solidFill>
          <a:ln w="12700">
            <a:solidFill>
              <a:srgbClr val="E3EE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251960" y="1691640"/>
            <a:ext cx="91440" cy="42976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4663440" y="2057400"/>
            <a:ext cx="640080" cy="64008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4663440" y="2057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663440" y="28803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build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663440" y="3429000"/>
            <a:ext cx="2834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I'm building one end-to-end pipeline — encrypted storage, de-identification, training, authenticated API, audit log — and training the same model under four defence settings: none, k-anonymity only, DP only, both combined.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229600" y="1691640"/>
            <a:ext cx="3657600" cy="4297680"/>
          </a:xfrm>
          <a:prstGeom prst="rect">
            <a:avLst/>
          </a:prstGeom>
          <a:solidFill>
            <a:srgbClr val="F2F7FB"/>
          </a:solidFill>
          <a:ln w="12700">
            <a:solidFill>
              <a:srgbClr val="E3EE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8229600" y="1691640"/>
            <a:ext cx="91440" cy="42976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8641080" y="2057400"/>
            <a:ext cx="640080" cy="64008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8641080" y="2057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8641080" y="28803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answer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8641080" y="3429000"/>
            <a:ext cx="2834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same attack against each. Produce a privacy-versus-accuracy chart that lets an engineer pick the right configuration for their use case, instead of guessing.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247120" y="65379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8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40080" y="653796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AI Pipeline for Sensitive Data  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IDENTIFIED  ·  SOLUTION PROPOSED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What's missing — and what I'll do about it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486400" cy="4572000"/>
          </a:xfrm>
          <a:prstGeom prst="rect">
            <a:avLst/>
          </a:prstGeom>
          <a:solidFill>
            <a:srgbClr val="F2F7FB"/>
          </a:solidFill>
          <a:ln w="12700">
            <a:solidFill>
              <a:srgbClr val="E3EE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640080" y="1600200"/>
            <a:ext cx="5486400" cy="54864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822960" y="160020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DEFICIENCY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2331720"/>
            <a:ext cx="50292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an engineer has to build a sensitive-data ML pipeline today, </a:t>
            </a: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clear empirical guidance </a:t>
            </a: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whether to use k-anonymity, differential privacy, both together, or neither.
The existing literature compares these techniques in isolation, on different datasets and different model architectures — which makes them </a:t>
            </a: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weigh against each other</a:t>
            </a: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a real engineering decision.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355080" y="3749040"/>
            <a:ext cx="274320" cy="27432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6492240" y="3840480"/>
            <a:ext cx="137160" cy="137160"/>
          </a:xfrm>
          <a:prstGeom prst="ellipse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6903720" y="1600200"/>
            <a:ext cx="4617720" cy="4572000"/>
          </a:xfrm>
          <a:prstGeom prst="rect">
            <a:avLst/>
          </a:prstGeom>
          <a:solidFill>
            <a:srgbClr val="F2F7FB"/>
          </a:solidFill>
          <a:ln w="12700">
            <a:solidFill>
              <a:srgbClr val="E3EE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6903720" y="1600200"/>
            <a:ext cx="4617720" cy="5486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7086600" y="160020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086600" y="2331720"/>
            <a:ext cx="429768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</a:t>
            </a: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end-to-end pipeline </a:t>
            </a: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 healthcare dataset.
Train </a:t>
            </a: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model </a:t>
            </a: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all four defence configurations.
Run </a:t>
            </a: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membership inference attack </a:t>
            </a: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against each.
Produce a </a:t>
            </a: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privacy-utility chart </a:t>
            </a: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practitioner can read off to choose a configuration.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261634" y="65379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8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40080" y="653796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AI Pipeline for Sensitive Data  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AIM TO DELIVER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Objectives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94360" cy="59436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417320" y="16916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17320" y="205740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layered pipeline covering ingestion, de-identification, privacy-preserving training, controlled inference, and audit logging — as separate, testable stages.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46520" y="1737360"/>
            <a:ext cx="594360" cy="59436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6446520" y="17373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223760" y="16916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De-identification + Encryption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223760" y="205740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module that classifies attributes, masks direct identifiers, applies k-anonymity at k = 5, and stores raw source records under authenticated encryption.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3063240"/>
            <a:ext cx="594360" cy="59436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640080" y="30632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417320" y="30175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Four-configuration ablation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417320" y="338328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the same model under: no defence, k-anonymity only, DP only, and both combined. DP variants at ε = 1, 3, 8 using DP-SGD.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46520" y="3063240"/>
            <a:ext cx="594360" cy="59436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446520" y="30632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223760" y="30175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Authenticated inference API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223760" y="338328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trained models behind a REST API with JWT auth, role-based access (analyst, admin), and a chained-hash audit log written to SQLite.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" y="4389120"/>
            <a:ext cx="594360" cy="59436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640080" y="43891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417320" y="43434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Attack evaluation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417320" y="47091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 black-box membership inference attack against every configuration. Plot the privacy-versus-utility trade-off as a Pareto chart.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46520" y="4389120"/>
            <a:ext cx="594360" cy="59436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6446520" y="43891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223760" y="43434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Threat model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223760" y="47091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 a STRIDE-style threat model linking each pipeline control to the threats it mitigates, plus qualitative discussion of attacks not run experimentally.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11247120" y="65379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8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40080" y="653796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AI Pipeline for Sensitive Data  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BOUNDARIES OF THE WORK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Scope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5486400" cy="4480560"/>
          </a:xfrm>
          <a:prstGeom prst="rect">
            <a:avLst/>
          </a:prstGeom>
          <a:solidFill>
            <a:srgbClr val="F2F7FB"/>
          </a:solidFill>
          <a:ln w="12700">
            <a:solidFill>
              <a:srgbClr val="E3EE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640080" y="1645920"/>
            <a:ext cx="109728" cy="4480560"/>
          </a:xfrm>
          <a:prstGeom prst="rect">
            <a:avLst/>
          </a:prstGeom>
          <a:solidFill>
            <a:srgbClr val="2E7D4A"/>
          </a:solidFill>
          <a:ln w="12700">
            <a:solidFill>
              <a:srgbClr val="2E7D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914400" y="17830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500" dirty="0">
                <a:solidFill>
                  <a:srgbClr val="2E7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SCOPE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2240280"/>
            <a:ext cx="50292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UCI Diabetes 130-US Hospitals readmission dataset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~100,000 patient encounter records, binary readmission target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Tabular data, multilayer perceptron in PyTorch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pipeline configurations × three privacy budgets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Single-host deployment on commodity hardware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Python application — not a notebook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355080" y="1645920"/>
            <a:ext cx="5166360" cy="4480560"/>
          </a:xfrm>
          <a:prstGeom prst="rect">
            <a:avLst/>
          </a:prstGeom>
          <a:solidFill>
            <a:srgbClr val="F2F7FB"/>
          </a:solidFill>
          <a:ln w="12700">
            <a:solidFill>
              <a:srgbClr val="E3EE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6355080" y="1645920"/>
            <a:ext cx="109728" cy="4480560"/>
          </a:xfrm>
          <a:prstGeom prst="rect">
            <a:avLst/>
          </a:prstGeom>
          <a:solidFill>
            <a:srgbClr val="C58B1F"/>
          </a:solidFill>
          <a:ln w="12700">
            <a:solidFill>
              <a:srgbClr val="C58B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629400" y="1783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500" dirty="0">
                <a:solidFill>
                  <a:srgbClr val="C58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SCOPE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629400" y="2240280"/>
            <a:ext cx="45720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Image, text, or time-series data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Federated learning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Multi-party computation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Homomorphic-encrypted inference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or edge training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GPU-only or large-model workloads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247120" y="65379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8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40080" y="653796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AI Pipeline for Sensitive Data  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 ·  PART 1 of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architecture</a:t>
            </a:r>
            <a:endParaRPr lang="en-US" sz="3000" dirty="0"/>
          </a:p>
        </p:txBody>
      </p:sp>
      <p:pic>
        <p:nvPicPr>
          <p:cNvPr id="4" name="Image 0" descr="/home/claude/ppt/architectur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40080" y="1417320"/>
            <a:ext cx="10881360" cy="4572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62179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row: data flow at runtime (encrypted store → de-identification → training → trained models → authenticated inference → tamper-evident audit log). Lower branch: evaluation flow (same models attacked, results compared on a privacy-utility chart).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247120" y="65379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/8</a:t>
            </a:r>
          </a:p>
        </p:txBody>
      </p:sp>
      <p:sp>
        <p:nvSpPr>
          <p:cNvPr id="7" name="Text 4"/>
          <p:cNvSpPr/>
          <p:nvPr/>
        </p:nvSpPr>
        <p:spPr>
          <a:xfrm>
            <a:off x="640080" y="653796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AI Pipeline for Sensitive Data  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 ·  PART 2 of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four configurations and how I evaluate them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PIPELINE CONFIGURATIONS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645920" y="19659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520440" y="196596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DP-SGD  (ε = 1, 3, 8)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242316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k-anon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333756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= 5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645920" y="2423160"/>
            <a:ext cx="2606040" cy="822960"/>
          </a:xfrm>
          <a:prstGeom prst="rect">
            <a:avLst/>
          </a:prstGeom>
          <a:solidFill>
            <a:srgbClr val="F2F7FB"/>
          </a:solidFill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1645920" y="242316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474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Config 1</a:t>
            </a:r>
            <a:endParaRPr lang="en-US" sz="13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3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 defence)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520440" y="2423160"/>
            <a:ext cx="2606040" cy="822960"/>
          </a:xfrm>
          <a:prstGeom prst="rect">
            <a:avLst/>
          </a:prstGeom>
          <a:solidFill>
            <a:srgbClr val="F2F7FB"/>
          </a:solidFill>
          <a:ln w="190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520440" y="242316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Config 3</a:t>
            </a:r>
            <a:endParaRPr lang="en-US" sz="13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 only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645920" y="3337560"/>
            <a:ext cx="2606040" cy="822960"/>
          </a:xfrm>
          <a:prstGeom prst="rect">
            <a:avLst/>
          </a:prstGeom>
          <a:solidFill>
            <a:srgbClr val="F2F7FB"/>
          </a:solidFill>
          <a:ln w="190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1645920" y="333756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Config 2</a:t>
            </a:r>
            <a:endParaRPr lang="en-US" sz="13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k-anonymity only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520440" y="3337560"/>
            <a:ext cx="2606040" cy="822960"/>
          </a:xfrm>
          <a:prstGeom prst="rect">
            <a:avLst/>
          </a:prstGeom>
          <a:solidFill>
            <a:srgbClr val="F2F7FB"/>
          </a:solidFill>
          <a:ln w="1905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3520440" y="333756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Config 4</a:t>
            </a:r>
            <a:endParaRPr lang="en-US" sz="13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 + k-anonymity</a:t>
            </a:r>
            <a:endParaRPr lang="en-US" sz="13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(layered defence)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" y="434340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dataset. Same MLP architecture. Same training procedure. Only the defence layers change.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92240" y="16002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 —  TWO AXES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92240" y="1965960"/>
            <a:ext cx="5029200" cy="914400"/>
          </a:xfrm>
          <a:prstGeom prst="rect">
            <a:avLst/>
          </a:prstGeom>
          <a:solidFill>
            <a:srgbClr val="F2F7FB"/>
          </a:solidFill>
          <a:ln w="12700">
            <a:solidFill>
              <a:srgbClr val="E3EE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6492240" y="1965960"/>
            <a:ext cx="109728" cy="914400"/>
          </a:xfrm>
          <a:prstGeom prst="rect">
            <a:avLst/>
          </a:prstGeom>
          <a:solidFill>
            <a:srgbClr val="2E7D4A"/>
          </a:solidFill>
          <a:ln w="12700">
            <a:solidFill>
              <a:srgbClr val="2E7D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6720840" y="205740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Utility</a:t>
            </a:r>
            <a:endParaRPr lang="en-US" sz="1400" dirty="0"/>
          </a:p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Accuracy, F1, ROC-AUC on a held-out test set.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492240" y="3017520"/>
            <a:ext cx="5029200" cy="914400"/>
          </a:xfrm>
          <a:prstGeom prst="rect">
            <a:avLst/>
          </a:prstGeom>
          <a:solidFill>
            <a:srgbClr val="F2F7FB"/>
          </a:solidFill>
          <a:ln w="12700">
            <a:solidFill>
              <a:srgbClr val="E3EE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6492240" y="3017520"/>
            <a:ext cx="109728" cy="914400"/>
          </a:xfrm>
          <a:prstGeom prst="rect">
            <a:avLst/>
          </a:prstGeom>
          <a:solidFill>
            <a:srgbClr val="C58B1F"/>
          </a:solidFill>
          <a:ln w="12700">
            <a:solidFill>
              <a:srgbClr val="C58B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6720840" y="310896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Empirical privacy</a:t>
            </a:r>
            <a:endParaRPr lang="en-US" sz="1400" dirty="0"/>
          </a:p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AUC of a black-box membership inference attack (Shokri et al., 2017).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492240" y="4069080"/>
            <a:ext cx="5029200" cy="91440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6720840" y="416052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Output</a:t>
            </a:r>
            <a:endParaRPr lang="en-US" sz="1400" dirty="0"/>
          </a:p>
          <a:p>
            <a:pPr marL="0" indent="0">
              <a:buNone/>
            </a:pPr>
            <a:r>
              <a:rPr lang="en-US" sz="1150" dirty="0">
                <a:solidFill>
                  <a:srgbClr val="E3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privacy-utility Pareto chart over the four configurations — the headline deliverable.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40080" y="5120640"/>
            <a:ext cx="10881360" cy="1051560"/>
          </a:xfrm>
          <a:prstGeom prst="rect">
            <a:avLst/>
          </a:prstGeom>
          <a:solidFill>
            <a:srgbClr val="E3EEF7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914400" y="521208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Plus a STRIDE threat model  </a:t>
            </a: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every control in the pipeline mapped to the threats it mitigates. Attacks not run experimentally (model inversion, attribute inference) are addressed in a qualitative section of the report.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1247120" y="65379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8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40080" y="653796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AI Pipeline for Sensitive Data  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114800"/>
            <a:ext cx="4572000" cy="4572000"/>
          </a:xfrm>
          <a:prstGeom prst="ellipse">
            <a:avLst/>
          </a:prstGeom>
          <a:solidFill>
            <a:srgbClr val="065A82">
              <a:alpha val="50000"/>
            </a:srgbClr>
          </a:solidFill>
          <a:ln w="12700">
            <a:solidFill>
              <a:srgbClr val="065A8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9601200" y="-1371600"/>
            <a:ext cx="4572000" cy="4572000"/>
          </a:xfrm>
          <a:prstGeom prst="ellipse">
            <a:avLst/>
          </a:prstGeom>
          <a:solidFill>
            <a:srgbClr val="1C7293">
              <a:alpha val="40000"/>
            </a:srgbClr>
          </a:solidFill>
          <a:ln w="12700">
            <a:solidFill>
              <a:srgbClr val="1C729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WRAPPING UP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7772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Risks, future work, and thank you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53949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68680" y="18745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 &amp;  MITIGATIONS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68680" y="2194560"/>
            <a:ext cx="4937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Attack result too weak to discriminate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result is still a finding; fall back to attribute inference as secondary attack.
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Schedule pressure from full-time work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ε = 3 first, then integration polish — never the four-config comparison.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17920" y="1783080"/>
            <a:ext cx="530352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446520" y="18745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46520" y="2194560"/>
            <a:ext cx="4937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to clinical text or multi-modal records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Federated learning across simulated sites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Homomorphic-encrypted inference path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attacks (model inversion, attribute inference) run empirically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4860834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you.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640080" y="53492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40080" y="64008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E3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Rajput Dhirajsing Rajeshsing  ·  2024DA04378  ·  Supervisor: Roshini V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289</TotalTime>
  <Words>928</Words>
  <Application>Microsoft Office PowerPoint</Application>
  <PresentationFormat>Widescreen</PresentationFormat>
  <Paragraphs>123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Secure AI Pipeline for Sensitive Data — Outline VIVA</dc:title>
  <dc:subject>PptxGenJS Presentation</dc:subject>
  <dc:creator>Rajput Dhirajsing Rajeshsing</dc:creator>
  <cp:lastModifiedBy>Dhirajsing Rajeshsing, Rajput (Cognizant)</cp:lastModifiedBy>
  <cp:revision>3</cp:revision>
  <dcterms:created xsi:type="dcterms:W3CDTF">2026-05-21T11:38:53Z</dcterms:created>
  <dcterms:modified xsi:type="dcterms:W3CDTF">2026-05-23T12:44:35Z</dcterms:modified>
</cp:coreProperties>
</file>